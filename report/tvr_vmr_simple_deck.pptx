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7" r:id="rId4"/>
    <p:sldId id="258" r:id="rId5"/>
    <p:sldId id="262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2743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Efficient Video</a:t>
            </a:r>
            <a:br/>
            <a:r>
              <a:t>Moment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194560"/>
            <a:ext cx="2743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r>
              <a:rPr dirty="0"/>
              <a:t>TVR Dataset · Systems-focused Independent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914400"/>
            <a:ext cx="7117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rPr dirty="0"/>
              <a:t>From subtitle-only retrieval to multimodal XML + staged 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59" y="1920240"/>
            <a:ext cx="68127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</a:defRPr>
            </a:pPr>
            <a:r>
              <a:rPr dirty="0"/>
              <a:t>Goal: given a natural-language query, predict the correct video moment (</a:t>
            </a:r>
            <a:r>
              <a:rPr dirty="0" err="1"/>
              <a:t>start_time</a:t>
            </a:r>
            <a:r>
              <a:rPr dirty="0"/>
              <a:t>, </a:t>
            </a:r>
            <a:r>
              <a:rPr dirty="0" err="1"/>
              <a:t>end_time</a:t>
            </a:r>
            <a:r>
              <a:rPr dirty="0"/>
              <a:t>) efficiently.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4023360"/>
            <a:ext cx="1920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409651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</a:defRPr>
            </a:pPr>
            <a:r>
              <a:t>Queries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3434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10,895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4023360"/>
            <a:ext cx="1920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2280" y="409651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</a:defRPr>
            </a:pPr>
            <a:r>
              <a:t>Videos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43434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4B8A6"/>
                </a:solidFill>
              </a:defRPr>
            </a:pPr>
            <a:r>
              <a:t>2,179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4023360"/>
            <a:ext cx="1920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0" y="409651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</a:defRPr>
            </a:pPr>
            <a:r>
              <a:t>Main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43434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7C3AED"/>
                </a:solidFill>
              </a:defRPr>
            </a:pPr>
            <a:r>
              <a:t>Dense → XML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5760720"/>
            <a:ext cx="323819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dirty="0"/>
              <a:t>Sahil Shroff · Advisor: </a:t>
            </a:r>
            <a:r>
              <a:rPr lang="en-US" dirty="0"/>
              <a:t>Dr. </a:t>
            </a:r>
            <a:r>
              <a:rPr dirty="0"/>
              <a:t>Mark Zhao · CU Boulder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D2838-E64D-DBBC-D9A7-2C114ED37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FB8B76-CAA3-7A3F-C0C5-B721E37DF81F}"/>
              </a:ext>
            </a:extLst>
          </p:cNvPr>
          <p:cNvSpPr txBox="1"/>
          <p:nvPr/>
        </p:nvSpPr>
        <p:spPr>
          <a:xfrm>
            <a:off x="548640" y="320040"/>
            <a:ext cx="293618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rPr lang="en-US" dirty="0"/>
              <a:t>Goal: Video </a:t>
            </a:r>
            <a:r>
              <a:rPr lang="en-US" dirty="0" err="1"/>
              <a:t>Retrival</a:t>
            </a:r>
            <a:endParaRPr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C95AB36-3593-CAE8-287F-A2D6AA9BEB0B}"/>
              </a:ext>
            </a:extLst>
          </p:cNvPr>
          <p:cNvGrpSpPr/>
          <p:nvPr/>
        </p:nvGrpSpPr>
        <p:grpSpPr>
          <a:xfrm>
            <a:off x="454025" y="1574277"/>
            <a:ext cx="11283950" cy="2502816"/>
            <a:chOff x="454025" y="2281287"/>
            <a:chExt cx="11283950" cy="2502816"/>
          </a:xfrm>
        </p:grpSpPr>
        <p:pic>
          <p:nvPicPr>
            <p:cNvPr id="2052" name="Picture 4">
              <a:extLst>
                <a:ext uri="{FF2B5EF4-FFF2-40B4-BE49-F238E27FC236}">
                  <a16:creationId xmlns:a16="http://schemas.microsoft.com/office/drawing/2014/main" id="{A64CFF03-06C3-6950-51F3-EBF40A7DFC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079"/>
            <a:stretch>
              <a:fillRect/>
            </a:stretch>
          </p:blipFill>
          <p:spPr bwMode="auto">
            <a:xfrm>
              <a:off x="454025" y="2526383"/>
              <a:ext cx="11283950" cy="22577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880D5C5-9A20-5DBC-35FA-ED6962733E03}"/>
                </a:ext>
              </a:extLst>
            </p:cNvPr>
            <p:cNvSpPr/>
            <p:nvPr/>
          </p:nvSpPr>
          <p:spPr>
            <a:xfrm>
              <a:off x="3484828" y="2281287"/>
              <a:ext cx="578125" cy="83898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ln>
                  <a:solidFill>
                    <a:schemeClr val="bg1"/>
                  </a:solidFill>
                </a:ln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1622160-54DA-C5B9-E11E-F4AC21EE0D4B}"/>
              </a:ext>
            </a:extLst>
          </p:cNvPr>
          <p:cNvSpPr txBox="1"/>
          <p:nvPr/>
        </p:nvSpPr>
        <p:spPr>
          <a:xfrm>
            <a:off x="961534" y="4242062"/>
            <a:ext cx="10567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IoU</a:t>
            </a:r>
            <a:r>
              <a:rPr lang="en-US" dirty="0"/>
              <a:t> (Intersection over Union) = (Intersection / Union)</a:t>
            </a:r>
          </a:p>
        </p:txBody>
      </p:sp>
    </p:spTree>
    <p:extLst>
      <p:ext uri="{BB962C8B-B14F-4D97-AF65-F5344CB8AC3E}">
        <p14:creationId xmlns:p14="http://schemas.microsoft.com/office/powerpoint/2010/main" val="1699731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Problem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91440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44752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Input: natural-language query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Output: moment span (start_time, end_time)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Evaluation on official TVR validation split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91440" cy="17373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444752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55648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10,895 validation queries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2,179 unique videos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Query types: v, t, vt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91440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444752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55648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Text baselines: mean IoU, R@K@IoU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XML family: VR, VCMR, SVMR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Runtime / speedup for systems 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16052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4462272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Query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61488" y="4599432"/>
            <a:ext cx="393192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657600" y="416052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67328" y="4462272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B8A6"/>
                </a:solidFill>
              </a:defRPr>
            </a:pPr>
            <a:r>
              <a:t>Retriever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504688" y="4599432"/>
            <a:ext cx="393192" cy="0"/>
          </a:xfrm>
          <a:prstGeom prst="line">
            <a:avLst/>
          </a:prstGeom>
          <a:ln w="254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800" y="416052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8" y="4462272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Candidates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47888" y="4599432"/>
            <a:ext cx="393192" cy="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44000" y="416052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53728" y="4462272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Predicted span</a:t>
            </a:r>
          </a:p>
        </p:txBody>
      </p:sp>
    </p:spTree>
  </p:cSld>
  <p:clrMapOvr>
    <a:masterClrMapping/>
  </p:clrMapOvr>
</p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F8FAFC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548640" y="320040"/>
            <ns1:ext cx="11064240" cy="64008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2600" b="1">
                <ns1:solidFill>
                  <ns1:srgbClr val="0F172A"/>
                </ns1:solidFill>
              </ns1:defRPr>
            </ns1:pPr>
            <ns1:r>
              <ns1:t>Full-val text baselines</ns1:t>
            </ns1:r>
          </ns1:p>
        </ns0:txBody>
      </ns0:sp>
      <ns0:sp>
        <ns0:nvSpPr>
          <ns0:cNvPr id="4" name="TextBox 3"/>
          <ns0:cNvSpPr txBox="1"/>
          <ns0:nvPr/>
        </ns0:nvSpPr>
        <ns0:spPr>
          <ns1:xfrm>
            <ns1:off x="566928" y="868680"/>
            <ns1:ext cx="10972800" cy="36576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1200">
                <ns1:solidFill>
                  <ns1:srgbClr val="475569"/>
                </ns1:solidFill>
              </ns1:defRPr>
            </ns1:pPr>
            <ns1:r>
              <ns1:t>Subtitle-only retrieval is useful, but limited.</ns1:t>
            </ns1:r>
          </ns1:p>
        </ns0:txBody>
      </ns0:sp>
      <ns0:graphicFrame>
        <ns0:nvGraphicFramePr>
          <ns0:cNvPr id="5" name="Table 4"/>
          <ns0:cNvGraphicFramePr>
            <ns1:graphicFrameLocks noGrp="1"/>
          </ns0:cNvGraphicFramePr>
          <ns0:nvPr/>
        </ns0:nvGraphicFramePr>
        <ns0:xfrm>
          <ns1:off x="731520" y="1463040"/>
          <ns1:ext cx="6583680" cy="2743200"/>
        </ns0:xfrm>
        <ns1:graphic>
          <ns1:graphicData uri="http://schemas.openxmlformats.org/drawingml/2006/table">
            <ns1:tbl>
              <ns1:tblPr firstRow="1" bandRow="1">
                <ns1:tableStyleId>{5C22544A-7EE6-4342-B048-85BDC9FD1C3A}</ns1:tableStyleId>
              </ns1:tblPr>
              <ns1:tblGrid>
                <ns1:gridCol w="1316736">
                  <ns1:extLst>
                    <ns1:ext uri="{9D8B030D-6E8A-4147-A177-3AD203B41FA5}">
                      <ns2:colId val="20000"/>
                    </ns1:ext>
                  </ns1:extLst>
                </ns1:gridCol>
                <ns1:gridCol w="1316736">
                  <ns1:extLst>
                    <ns1:ext uri="{9D8B030D-6E8A-4147-A177-3AD203B41FA5}">
                      <ns2:colId val="20001"/>
                    </ns1:ext>
                  </ns1:extLst>
                </ns1:gridCol>
                <ns1:gridCol w="1316736">
                  <ns1:extLst>
                    <ns1:ext uri="{9D8B030D-6E8A-4147-A177-3AD203B41FA5}">
                      <ns2:colId val="20002"/>
                    </ns1:ext>
                  </ns1:extLst>
                </ns1:gridCol>
                <ns1:gridCol w="1316736">
                  <ns1:extLst>
                    <ns1:ext uri="{9D8B030D-6E8A-4147-A177-3AD203B41FA5}">
                      <ns2:colId val="20003"/>
                    </ns1:ext>
                  </ns1:extLst>
                </ns1:gridCol>
                <ns1:gridCol w="1316736">
                  <ns1:extLst>
                    <ns1:ext uri="{9D8B030D-6E8A-4147-A177-3AD203B41FA5}">
                      <ns2:colId val="20004"/>
                    </ns1:ext>
                  </ns1:extLst>
                </ns1:gridCol>
              </ns1:tblGrid>
              <ns1:tr h="548640">
                <ns1:tc>
                  <ns1:txBody>
                    <ns1:bodyPr/>
                    <ns1:lstStyle/>
                    <ns1:p>
                      <ns1:pPr algn="ctr">
                        <ns1:defRPr sz="1100" b="1">
                          <ns1:solidFill>
                            <ns1:srgbClr val="FFFFFF"/>
                          </ns1:solidFill>
                        </ns1:defRPr>
                      </ns1:pPr>
                      <ns1:r>
                        <ns1:t>Method</ns1:t>
                      </ns1:r>
                    </ns1:p>
                  </ns1:txBody>
                  <ns1:tcPr>
                    <ns1:solidFill>
                      <ns1:srgbClr val="0F172A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00" b="1">
                          <ns1:solidFill>
                            <ns1:srgbClr val="FFFFFF"/>
                          </ns1:solidFill>
                        </ns1:defRPr>
                      </ns1:pPr>
                      <ns1:r>
                        <ns1:t>R@1@0.5</ns1:t>
                      </ns1:r>
                    </ns1:p>
                  </ns1:txBody>
                  <ns1:tcPr>
                    <ns1:solidFill>
                      <ns1:srgbClr val="0F172A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00" b="1">
                          <ns1:solidFill>
                            <ns1:srgbClr val="FFFFFF"/>
                          </ns1:solidFill>
                        </ns1:defRPr>
                      </ns1:pPr>
                      <ns1:r>
                        <ns1:t>R@3@0.5</ns1:t>
                      </ns1:r>
                    </ns1:p>
                  </ns1:txBody>
                  <ns1:tcPr>
                    <ns1:solidFill>
                      <ns1:srgbClr val="0F172A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00" b="1">
                          <ns1:solidFill>
                            <ns1:srgbClr val="FFFFFF"/>
                          </ns1:solidFill>
                        </ns1:defRPr>
                      </ns1:pPr>
                      <ns1:r>
                        <ns1:t>Mean IoU</ns1:t>
                      </ns1:r>
                    </ns1:p>
                  </ns1:txBody>
                  <ns1:tcPr>
                    <ns1:solidFill>
                      <ns1:srgbClr val="0F172A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00" b="1">
                          <ns1:solidFill>
                            <ns1:srgbClr val="FFFFFF"/>
                          </ns1:solidFill>
                        </ns1:defRPr>
                      </ns1:pPr>
                      <ns1:r>
                        <ns1:t>Latency ms</ns1:t>
                      </ns1:r>
                    </ns1:p>
                  </ns1:txBody>
                  <ns1:tcPr>
                    <ns1:solidFill>
                      <ns1:srgbClr val="0F172A"/>
                    </ns1:solidFill>
                  </ns1:tcPr>
                </ns1:tc>
                <ns1:extLst>
                  <ns1:ext uri="{0D108BD9-81ED-4DB2-BD59-A6C34878D82A}">
                    <ns2:rowId val="10000"/>
                  </ns1:ext>
                </ns1:extLst>
              </ns1:tr>
              <ns1:tr h="548640">
                <ns1:tc>
                  <ns1:txBody>
                    <ns1:bodyPr/>
                    <ns1:lstStyle/>
                    <ns1:p>
                      <ns1:pPr algn="ctr">
                        <ns1:defRPr sz="1000">
                          <ns1:solidFill>
                            <ns1:srgbClr val="0F172A"/>
                          </ns1:solidFill>
                        </ns1:defRPr>
                      </ns1:pPr>
                      <ns1:r>
                        <ns1:t>BM25</ns1:t>
                      </ns1:r>
                    </ns1:p>
                  </ns1:txBody>
                  <ns1:tcPr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00">
                          <ns1:solidFill>
                            <ns1:srgbClr val="0F172A"/>
                          </ns1:solidFill>
                        </ns1:defRPr>
                      </ns1:pPr>
                      <ns1:r>
                        <ns1:t>0.0777</ns1:t>
                      </ns1:r>
                    </ns1:p>
                  </ns1:txBody>
                  <ns1:tcPr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00">
                          <ns1:solidFill>
                            <ns1:srgbClr val="0F172A"/>
                          </ns1:solidFill>
                        </ns1:defRPr>
                      </ns1:pPr>
                      <ns1:r>
                        <ns1:t>0.1581</ns1:t>
                      </ns1:r>
                    </ns1:p>
                  </ns1:txBody>
                  <ns1:tcPr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00">
                          <ns1:solidFill>
                            <ns1:srgbClr val="0F172A"/>
                          </ns1:solidFill>
                        </ns1:defRPr>
                      </ns1:pPr>
                      <ns1:r>
                        <ns1:t>0.1280</ns1:t>
                      </ns1:r>
                    </ns1:p>
                  </ns1:txBody>
                  <ns1:tcPr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00">
                          <ns1:solidFill>
                            <ns1:srgbClr val="0F172A"/>
                          </ns1:solidFill>
                        </ns1:defRPr>
                      </ns1:pPr>
                      <ns1:r>
                        <ns1:t>0.19</ns1:t>
                      </ns1:r>
                    </ns1:p>
                  </ns1:txBody>
                  <ns1:tcPr>
                    <ns1:solidFill>
                      <ns1:srgbClr val="FFFFFF"/>
                    </ns1:solidFill>
                  </ns1:tcPr>
                </ns1:tc>
                <ns1:extLst>
                  <ns1:ext uri="{0D108BD9-81ED-4DB2-BD59-A6C34878D82A}">
                    <ns2:rowId val="10001"/>
                  </ns1:ext>
                </ns1:extLst>
              </ns1:tr>
              <ns1:tr h="548640">
                <ns1:tc>
                  <ns1:txBody>
                    <ns1:bodyPr/>
                    <ns1:lstStyle/>
                    <ns1:p>
                      <ns1:pPr algn="ctr">
                        <ns1:defRPr sz="1000">
                          <ns1:solidFill>
                            <ns1:srgbClr val="0F172A"/>
                          </ns1:solidFill>
                        </ns1:defRPr>
                      </ns1:pPr>
                      <ns1:r>
                        <ns1:t>Dense</ns1:t>
                      </ns1:r>
                    </ns1:p>
                  </ns1:txBody>
                  <ns1:tcPr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00">
                          <ns1:solidFill>
                            <ns1:srgbClr val="0F172A"/>
                          </ns1:solidFill>
                        </ns1:defRPr>
                      </ns1:pPr>
                      <ns1:r>
                        <ns1:t>0.0946</ns1:t>
                      </ns1:r>
                    </ns1:p>
                  </ns1:txBody>
                  <ns1:tcPr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00">
                          <ns1:solidFill>
                            <ns1:srgbClr val="0F172A"/>
                          </ns1:solidFill>
                        </ns1:defRPr>
                      </ns1:pPr>
                      <ns1:r>
                        <ns1:t>0.1922</ns1:t>
                      </ns1:r>
                    </ns1:p>
                  </ns1:txBody>
                  <ns1:tcPr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00">
                          <ns1:solidFill>
                            <ns1:srgbClr val="0F172A"/>
                          </ns1:solidFill>
                        </ns1:defRPr>
                      </ns1:pPr>
                      <ns1:r>
                        <ns1:t>0.1579</ns1:t>
                      </ns1:r>
                    </ns1:p>
                  </ns1:txBody>
                  <ns1:tcPr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00">
                          <ns1:solidFill>
                            <ns1:srgbClr val="0F172A"/>
                          </ns1:solidFill>
                        </ns1:defRPr>
                      </ns1:pPr>
                      <ns1:r>
                        <ns1:t>0.33</ns1:t>
                      </ns1:r>
                    </ns1:p>
                  </ns1:txBody>
                  <ns1:tcPr>
                    <ns1:solidFill>
                      <ns1:srgbClr val="F8FAFC"/>
                    </ns1:solidFill>
                  </ns1:tcPr>
                </ns1:tc>
                <ns1:extLst>
                  <ns1:ext uri="{0D108BD9-81ED-4DB2-BD59-A6C34878D82A}">
                    <ns2:rowId val="10002"/>
                  </ns1:ext>
                </ns1:extLst>
              </ns1:tr>
              <ns1:tr h="548640">
                <ns1:tc>
                  <ns1:txBody>
                    <ns1:bodyPr/>
                    <ns1:lstStyle/>
                    <ns1:p>
                      <ns1:pPr algn="ctr">
                        <ns1:defRPr sz="1000">
                          <ns1:solidFill>
                            <ns1:srgbClr val="0F172A"/>
                          </ns1:solidFill>
                        </ns1:defRPr>
                      </ns1:pPr>
                      <ns1:r>
                        <ns1:t>Fusion</ns1:t>
                      </ns1:r>
                    </ns1:p>
                  </ns1:txBody>
                  <ns1:tcPr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00">
                          <ns1:solidFill>
                            <ns1:srgbClr val="0F172A"/>
                          </ns1:solidFill>
                        </ns1:defRPr>
                      </ns1:pPr>
                      <ns1:r>
                        <ns1:t>0.0980</ns1:t>
                      </ns1:r>
                    </ns1:p>
                  </ns1:txBody>
                  <ns1:tcPr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00">
                          <ns1:solidFill>
                            <ns1:srgbClr val="0F172A"/>
                          </ns1:solidFill>
                        </ns1:defRPr>
                      </ns1:pPr>
                      <ns1:r>
                        <ns1:t>0.1934</ns1:t>
                      </ns1:r>
                    </ns1:p>
                  </ns1:txBody>
                  <ns1:tcPr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00">
                          <ns1:solidFill>
                            <ns1:srgbClr val="0F172A"/>
                          </ns1:solidFill>
                        </ns1:defRPr>
                      </ns1:pPr>
                      <ns1:r>
                        <ns1:t>0.1617</ns1:t>
                      </ns1:r>
                    </ns1:p>
                  </ns1:txBody>
                  <ns1:tcPr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00">
                          <ns1:solidFill>
                            <ns1:srgbClr val="0F172A"/>
                          </ns1:solidFill>
                        </ns1:defRPr>
                      </ns1:pPr>
                      <ns1:r>
                        <ns1:t>0.70</ns1:t>
                      </ns1:r>
                    </ns1:p>
                  </ns1:txBody>
                  <ns1:tcPr>
                    <ns1:solidFill>
                      <ns1:srgbClr val="FFFFFF"/>
                    </ns1:solidFill>
                  </ns1:tcPr>
                </ns1:tc>
                <ns1:extLst>
                  <ns1:ext uri="{0D108BD9-81ED-4DB2-BD59-A6C34878D82A}">
                    <ns2:rowId val="10003"/>
                  </ns1:ext>
                </ns1:extLst>
              </ns1:tr>
              <ns1:tr h="548640">
                <ns1:tc>
                  <ns1:txBody>
                    <ns1:bodyPr/>
                    <ns1:lstStyle/>
                    <ns1:p>
                      <ns1:pPr algn="ctr">
                        <ns1:defRPr sz="1000">
                          <ns1:solidFill>
                            <ns1:srgbClr val="0F172A"/>
                          </ns1:solidFill>
                        </ns1:defRPr>
                      </ns1:pPr>
                      <ns1:r>
                        <ns1:t>Oracle</ns1:t>
                      </ns1:r>
                    </ns1:p>
                  </ns1:txBody>
                  <ns1:tcPr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00">
                          <ns1:solidFill>
                            <ns1:srgbClr val="0F172A"/>
                          </ns1:solidFill>
                        </ns1:defRPr>
                      </ns1:pPr>
                      <ns1:r>
                        <ns1:t>0.3450</ns1:t>
                      </ns1:r>
                    </ns1:p>
                  </ns1:txBody>
                  <ns1:tcPr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00">
                          <ns1:solidFill>
                            <ns1:srgbClr val="0F172A"/>
                          </ns1:solidFill>
                        </ns1:defRPr>
                      </ns1:pPr>
                      <ns1:r>
                        <ns1:t>0.3450</ns1:t>
                      </ns1:r>
                    </ns1:p>
                  </ns1:txBody>
                  <ns1:tcPr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00">
                          <ns1:solidFill>
                            <ns1:srgbClr val="0F172A"/>
                          </ns1:solidFill>
                        </ns1:defRPr>
                      </ns1:pPr>
                      <ns1:r>
                        <ns1:t>0.4251</ns1:t>
                      </ns1:r>
                    </ns1:p>
                  </ns1:txBody>
                  <ns1:tcPr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00">
                          <ns1:solidFill>
                            <ns1:srgbClr val="0F172A"/>
                          </ns1:solidFill>
                        </ns1:defRPr>
                      </ns1:pPr>
                      <ns1:r>
                        <ns1:t>0.00</ns1:t>
                      </ns1:r>
                    </ns1:p>
                  </ns1:txBody>
                  <ns1:tcPr>
                    <ns1:solidFill>
                      <ns1:srgbClr val="F8FAFC"/>
                    </ns1:solidFill>
                  </ns1:tcPr>
                </ns1:tc>
                <ns1:extLst>
                  <ns1:ext uri="{0D108BD9-81ED-4DB2-BD59-A6C34878D82A}">
                    <ns2:rowId val="10004"/>
                  </ns1:ext>
                </ns1:extLst>
              </ns1:tr>
            </ns1:tbl>
          </ns1:graphicData>
        </ns1:graphic>
      </ns0:graphicFrame>
      <ns0:sp>
        <ns0:nvSpPr>
          <ns0:cNvPr id="6" name="Rounded Rectangle 5"/>
          <ns0:cNvSpPr/>
          <ns0:nvPr/>
        </ns0:nvSpPr>
        <ns0:spPr>
          <ns1:xfrm>
            <ns1:off x="7772400" y="1554480"/>
            <ns1:ext cx="3566160" cy="1920240"/>
          </ns1:xfrm>
          <ns1:prstGeom prst="roundRect">
            <ns1:avLst/>
          </ns1:prstGeom>
          <ns1:solidFill>
            <ns1:srgbClr val="FFFFFF"/>
          </ns1:solidFill>
          <ns1:ln>
            <ns1:solidFill>
              <ns1:srgbClr val="E2E8F0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ectangle 6"/>
          <ns0:cNvSpPr/>
          <ns0:nvPr/>
        </ns0:nvSpPr>
        <ns0:spPr>
          <ns1:xfrm>
            <ns1:off x="7772400" y="1554480"/>
            <ns1:ext cx="91440" cy="1920240"/>
          </ns1:xfrm>
          <ns1:prstGeom prst="rect">
            <ns1:avLst/>
          </ns1:prstGeom>
          <ns1:solidFill>
            <ns1:srgbClr val="2563EB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7936992" y="1627632"/>
            <ns1:ext cx="3337560" cy="27432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 algn="l">
              <ns1:defRPr sz="1600" b="1">
                <ns1:solidFill>
                  <ns1:srgbClr val="0F172A"/>
                </ns1:solidFill>
              </ns1:defRPr>
            </ns1:pPr>
            <ns1:r>
              <ns1:t>Takeaway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7955280" y="1938528"/>
            <ns1:ext cx="3291840" cy="14630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defRPr sz="1400">
                <ns1:solidFill>
                  <ns1:srgbClr val="475569"/>
                </ns1:solidFill>
              </ns1:defRPr>
            </ns1:pPr>
            <ns1:r>
              <ns1:t>Dense &gt; BM25</ns1:t>
            </ns1:r>
          </ns1:p>
          <ns1:p>
            <ns1:pPr>
              <ns1:defRPr sz="1400">
                <ns1:solidFill>
                  <ns1:srgbClr val="475569"/>
                </ns1:solidFill>
              </ns1:defRPr>
            </ns1:pPr>
            <ns1:r>
              <ns1:t>Fusion adds a small gain</ns1:t>
            </ns1:r>
          </ns1:p>
          <ns1:p>
            <ns1:pPr>
              <ns1:defRPr sz="1400">
                <ns1:solidFill>
                  <ns1:srgbClr val="475569"/>
                </ns1:solidFill>
              </ns1:defRPr>
            </ns1:pPr>
            <ns1:r>
              <ns1:t>Large oracle gap shows remaining headroom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2854304" y="4754880"/>
            <ns1:ext cx="6635791" cy="369332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 algn="ctr">
              <ns1:defRPr sz="1800" b="1">
                <ns1:solidFill>
                  <ns1:srgbClr val="0F172A"/>
                </ns1:solidFill>
              </ns1:defRPr>
            </ns1:pPr>
            <ns1:r>
              <ns1:rPr dirty="0"/>
              <ns1:t>subtitle-only methods are not enough as the main baseline for TVR.</ns1:t>
            </ns1:r>
          </ns1:p>
        </ns0:txBody>
      </ns0:sp>
    </ns0:spTree>
  </ns0:cSld>
  <ns0:clrMapOvr>
    <ns1:masterClrMapping/>
  </ns0:clrMapOvr>
</ns0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B9168-3EDE-92E6-AB13-EA9A346B5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678E48-EC81-E345-2692-AF6244EC7C4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80684E-1FAE-1B5C-948D-45D1E29B5DAF}"/>
              </a:ext>
            </a:extLst>
          </p:cNvPr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Official XML baseline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AA1F8C-39B9-7C22-1569-9290BAA20451}"/>
              </a:ext>
            </a:extLst>
          </p:cNvPr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Multimodal reference baseline on official full validation.</a:t>
            </a:r>
          </a:p>
        </p:txBody>
      </p:sp>
      <p:pic>
        <p:nvPicPr>
          <p:cNvPr id="1026" name="Picture 2" descr="model_overview">
            <a:extLst>
              <a:ext uri="{FF2B5EF4-FFF2-40B4-BE49-F238E27FC236}">
                <a16:creationId xmlns:a16="http://schemas.microsoft.com/office/drawing/2014/main" id="{75BB85E3-CC2E-492F-2011-77E3C25CD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28" y="1454922"/>
            <a:ext cx="10972800" cy="436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8386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Official XML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Multimodal reference baseline on official full validation.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23774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19072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</a:defRPr>
            </a:pPr>
            <a:r>
              <a:t>VR R@1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1.69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64592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40" y="1719072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</a:defRPr>
            </a:pPr>
            <a:r>
              <a:t>VCMR R@1@0.5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19659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4B8A6"/>
                </a:solidFill>
              </a:defRPr>
            </a:pPr>
            <a:r>
              <a:t>0.38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64592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719072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</a:defRPr>
            </a:pPr>
            <a:r>
              <a:t>SVMR R@1@0.5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7C3AED"/>
                </a:solidFill>
              </a:defRPr>
            </a:pPr>
            <a:r>
              <a:t>15.60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1645920"/>
            <a:ext cx="17373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0" y="1719072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</a:defRPr>
            </a:pPr>
            <a:r>
              <a:t>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96596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80.15s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474720"/>
            <a:ext cx="3108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" y="3474720"/>
            <a:ext cx="91440" cy="1828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" y="3547872"/>
            <a:ext cx="2880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Metric intuition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858768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VR = retrieve the right video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VCMR = retrieve the right moment in the corpus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SVMR = localize within the video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474720"/>
            <a:ext cx="3108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474720"/>
            <a:ext cx="91440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53712" y="3547872"/>
            <a:ext cx="2880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What XML is good 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858768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Strong within-video localization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Reference multimodal baseline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Paper-like full-val result reproduced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3474720"/>
            <a:ext cx="3291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863840" y="3474720"/>
            <a:ext cx="91440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28432" y="3547872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What XML is weak 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858768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Cross-video retrieval is weak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Expensive compared with text retrieval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Motivates staged retrieval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Main contribution: Dense → 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Use Dense for video retrieval, XML for within-video localization.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737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1" y="1938528"/>
            <a:ext cx="15910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Query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95728" y="2103120"/>
            <a:ext cx="301752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80360" y="1645920"/>
            <a:ext cx="1737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53512" y="1938528"/>
            <a:ext cx="15910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B8A6"/>
                </a:solidFill>
              </a:defRPr>
            </a:pPr>
            <a:r>
              <a:t>Dense retriever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36008" y="2103120"/>
            <a:ext cx="301752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20640" y="1645920"/>
            <a:ext cx="1737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93792" y="1938528"/>
            <a:ext cx="15910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</a:defRPr>
            </a:pPr>
            <a:r>
              <a:t>Top-5 videos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76288" y="2103120"/>
            <a:ext cx="301752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60920" y="1645920"/>
            <a:ext cx="1737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34072" y="1938528"/>
            <a:ext cx="15910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XML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16568" y="2103120"/>
            <a:ext cx="301752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601200" y="1645920"/>
            <a:ext cx="1737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74352" y="1938528"/>
            <a:ext cx="15910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Final moment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868680" y="3291840"/>
          <a:ext cx="73152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VR R@1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VCMR R@1@0.5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SVMR R@1@0.5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Runtime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XML 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15.60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80.15s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1.00x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Dense→XML top-1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11.56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1.57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15.60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53.22s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1.51x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Dense→XML top-5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11.56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15.60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54.05s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1.48x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Dense→XML top-10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11.56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1.45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15.60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54.77s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1.46x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8503920" y="3429000"/>
            <a:ext cx="28346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03920" y="3429000"/>
            <a:ext cx="91440" cy="19659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68512" y="3502152"/>
            <a:ext cx="2606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Why this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813048"/>
            <a:ext cx="2560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Preserves SVMR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Improves VR + VCMR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Cuts runtime by ~1.5×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Best overall tradeoff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Side experiment: shared compaction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 valid systems baseline, but weaker than hierarchical pruning.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463040"/>
          <a:ext cx="60350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SVMR R@1@0.5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Runtime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XML 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15.60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80.15s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1.00x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Shared compaction keep 0.6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11.23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121s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0.66x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Dense→shared compaction→XML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11.56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114s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0.70x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223760" y="1463040"/>
            <a:ext cx="38404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23760" y="1463040"/>
            <a:ext cx="91440" cy="2194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88352" y="1536192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847088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Compaction plumbing works.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Current selector is too crude.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Does not beat dense shortlist alone.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160520"/>
            <a:ext cx="4937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4400" y="4160520"/>
            <a:ext cx="91440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4233672"/>
            <a:ext cx="4709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Bottom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544568"/>
            <a:ext cx="4663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Main novelty path: hierarchical dense shortlist → XML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Shared compaction stays as supporting evidence / future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480560"/>
            <a:ext cx="44805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rPr dirty="0"/>
              <a:t>Final message:</a:t>
            </a:r>
            <a:br>
              <a:rPr dirty="0"/>
            </a:br>
            <a:r>
              <a:rPr dirty="0"/>
              <a:t>Dense is better for video retrieval. XML is better for localization. Combining them gives the clearest systems win.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2774</TotalTime>
  <Words>514</Words>
  <Application>Microsoft Office PowerPoint</Application>
  <PresentationFormat>Widescreen</PresentationFormat>
  <Paragraphs>154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Sahil Shroff</cp:lastModifiedBy>
  <cp:revision>3</cp:revision>
  <dcterms:created xsi:type="dcterms:W3CDTF">2013-01-27T09:14:16Z</dcterms:created>
  <dcterms:modified xsi:type="dcterms:W3CDTF">2026-04-23T19:06:47Z</dcterms:modified>
  <cp:category/>
</cp:coreProperties>
</file>